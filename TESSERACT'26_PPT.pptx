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</p:sldIdLst>
  <p:sldSz cx="18288000" cy="10287000"/>
  <p:notesSz cx="6858000" cy="9144000"/>
  <p:embeddedFontLst>
    <p:embeddedFont>
      <p:font typeface="Brick Sans" panose="020B0604020202020204" charset="0"/>
      <p:regular r:id="rId9"/>
    </p:embeddedFont>
    <p:embeddedFont>
      <p:font typeface="Britannic Bold" panose="020B0903060703020204" pitchFamily="34" charset="0"/>
      <p:regular r:id="rId10"/>
    </p:embeddedFont>
    <p:embeddedFont>
      <p:font typeface="Calibri (MS)" panose="020B0604020202020204" charset="0"/>
      <p:regular r:id="rId11"/>
    </p:embeddedFont>
    <p:embeddedFont>
      <p:font typeface="Montserra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rive.google.com/drive/folders/1dWzc4CYbvKGo6_7VdiOQMD6rClIQOPFK?usp=shari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andfonline.com/doi/full/10.1080/03043797.2019.1710465" TargetMode="External"/><Relationship Id="rId13" Type="http://schemas.openxmlformats.org/officeDocument/2006/relationships/image" Target="../media/image6.svg"/><Relationship Id="rId3" Type="http://schemas.openxmlformats.org/officeDocument/2006/relationships/hyperlink" Target="https://peerj.com/articles/cs-2991/" TargetMode="External"/><Relationship Id="rId7" Type="http://schemas.openxmlformats.org/officeDocument/2006/relationships/hyperlink" Target="https://www.researchgate.net/publication/220625891_Usage_of_Graph_Patterns_for_Knowledge_Assessment_Based_on_Concept_Maps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s://www.frontiersin.org/journals/computer-science/articles/10.3389/fcomp.2026.1777749/ful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nationalacademies.org/read/18687/chapter/4" TargetMode="External"/><Relationship Id="rId11" Type="http://schemas.openxmlformats.org/officeDocument/2006/relationships/image" Target="../media/image3.jpeg"/><Relationship Id="rId5" Type="http://schemas.openxmlformats.org/officeDocument/2006/relationships/hyperlink" Target="https://www.google.com/search?q=https://ieeexplore.org/document/10936678/" TargetMode="External"/><Relationship Id="rId10" Type="http://schemas.openxmlformats.org/officeDocument/2006/relationships/image" Target="../media/image1.png"/><Relationship Id="rId4" Type="http://schemas.openxmlformats.org/officeDocument/2006/relationships/hyperlink" Target="https://www.mdpi.com/2079-9292/14/2/255" TargetMode="External"/><Relationship Id="rId9" Type="http://schemas.openxmlformats.org/officeDocument/2006/relationships/hyperlink" Target="https://drive.google.com/drive/folders/1dWzc4CYbvKGo6_7VdiOQMD6rClIQOPFK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230616" y="457152"/>
            <a:ext cx="6509109" cy="1283094"/>
            <a:chOff x="0" y="0"/>
            <a:chExt cx="8678812" cy="17107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678799" cy="1710817"/>
            </a:xfrm>
            <a:custGeom>
              <a:avLst/>
              <a:gdLst/>
              <a:ahLst/>
              <a:cxnLst/>
              <a:rect l="l" t="t" r="r" b="b"/>
              <a:pathLst>
                <a:path w="8678799" h="1710817">
                  <a:moveTo>
                    <a:pt x="0" y="0"/>
                  </a:moveTo>
                  <a:lnTo>
                    <a:pt x="8678799" y="0"/>
                  </a:lnTo>
                  <a:lnTo>
                    <a:pt x="8678799" y="1710817"/>
                  </a:lnTo>
                  <a:lnTo>
                    <a:pt x="0" y="17108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777" b="-48776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5108919" y="457152"/>
            <a:ext cx="8070162" cy="1433936"/>
            <a:chOff x="0" y="0"/>
            <a:chExt cx="10760215" cy="191191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209" cy="1911920"/>
            </a:xfrm>
            <a:custGeom>
              <a:avLst/>
              <a:gdLst/>
              <a:ahLst/>
              <a:cxnLst/>
              <a:rect l="l" t="t" r="r" b="b"/>
              <a:pathLst>
                <a:path w="10760209" h="1911920">
                  <a:moveTo>
                    <a:pt x="0" y="0"/>
                  </a:moveTo>
                  <a:lnTo>
                    <a:pt x="10760209" y="0"/>
                  </a:lnTo>
                  <a:lnTo>
                    <a:pt x="10760209" y="1911920"/>
                  </a:lnTo>
                  <a:lnTo>
                    <a:pt x="0" y="1911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3610" r="19343" b="-3328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0760215" cy="19785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78"/>
                </a:lnSpc>
              </a:pPr>
              <a:r>
                <a:rPr lang="en-US" sz="6398">
                  <a:solidFill>
                    <a:srgbClr val="002060"/>
                  </a:solidFill>
                  <a:latin typeface="Brick Sans"/>
                  <a:ea typeface="Brick Sans"/>
                  <a:cs typeface="Brick Sans"/>
                  <a:sym typeface="Brick Sans"/>
                </a:rPr>
                <a:t>TESSERACT ‘26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0" y="0"/>
            <a:ext cx="1755685" cy="2135534"/>
            <a:chOff x="0" y="0"/>
            <a:chExt cx="2070418" cy="25183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70354" cy="2518410"/>
            </a:xfrm>
            <a:custGeom>
              <a:avLst/>
              <a:gdLst/>
              <a:ahLst/>
              <a:cxnLst/>
              <a:rect l="l" t="t" r="r" b="b"/>
              <a:pathLst>
                <a:path w="2070354" h="2518410">
                  <a:moveTo>
                    <a:pt x="0" y="0"/>
                  </a:moveTo>
                  <a:lnTo>
                    <a:pt x="2070354" y="0"/>
                  </a:lnTo>
                  <a:lnTo>
                    <a:pt x="2070354" y="2518410"/>
                  </a:lnTo>
                  <a:lnTo>
                    <a:pt x="0" y="25184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817" r="-10821" b="2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6357995" y="9619764"/>
            <a:ext cx="4749079" cy="547688"/>
            <a:chOff x="0" y="0"/>
            <a:chExt cx="6332106" cy="7302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32093" cy="730250"/>
            </a:xfrm>
            <a:custGeom>
              <a:avLst/>
              <a:gdLst/>
              <a:ahLst/>
              <a:cxnLst/>
              <a:rect l="l" t="t" r="r" b="b"/>
              <a:pathLst>
                <a:path w="6332093" h="730250">
                  <a:moveTo>
                    <a:pt x="0" y="0"/>
                  </a:moveTo>
                  <a:lnTo>
                    <a:pt x="6332093" y="0"/>
                  </a:lnTo>
                  <a:lnTo>
                    <a:pt x="6332093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8839" b="-118839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77815" y="2779684"/>
            <a:ext cx="16524086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Title – AI-powered ADAPTIVE STEM learning digital platform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Track - Ed-tech &amp; AI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Problem Statement ID-  SDG 4, 9, 10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Name- Nexis</a:t>
            </a: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Team Members- 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 Sanskruti </a:t>
            </a:r>
            <a:r>
              <a:rPr lang="en-US" sz="3354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Bhambhure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 , Prashant Gharge , Archit </a:t>
            </a:r>
            <a:r>
              <a:rPr lang="en-US" sz="3354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Jedge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 , </a:t>
            </a:r>
            <a:b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</a:b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				  Mansi </a:t>
            </a:r>
            <a:r>
              <a:rPr lang="en-US" sz="3354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Jangale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 , Arya </a:t>
            </a:r>
            <a:r>
              <a:rPr lang="en-US" sz="3354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Badadale</a:t>
            </a: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 , Atharva </a:t>
            </a:r>
            <a:r>
              <a:rPr lang="en-US" sz="3354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Warkad</a:t>
            </a: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"/>
            </a:endParaRPr>
          </a:p>
          <a:p>
            <a:pPr marL="724151" lvl="1" indent="-362076" algn="l">
              <a:lnSpc>
                <a:spcPts val="3622"/>
              </a:lnSpc>
              <a:buFont typeface="Arial"/>
              <a:buChar char="•"/>
            </a:pPr>
            <a:r>
              <a:rPr lang="en-US" sz="3354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"/>
              </a:rPr>
              <a:t>VIDEO DEMO: </a:t>
            </a: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362075" lvl="1">
              <a:lnSpc>
                <a:spcPts val="3622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  <a:hlinkClick r:id="rId6"/>
              </a:rPr>
              <a:t>https://drive.google.com/drive/folders/1dWzc4CYbvKGo6_7VdiOQMD6rClIQOPFK?usp=sharing</a:t>
            </a:r>
            <a:endParaRPr lang="en-US" sz="2800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marL="362075" lvl="1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algn="l">
              <a:lnSpc>
                <a:spcPts val="3622"/>
              </a:lnSpc>
            </a:pPr>
            <a:endParaRPr lang="en-US" sz="3354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46077" y="530771"/>
            <a:ext cx="8731372" cy="1784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6000" b="1" dirty="0">
                <a:solidFill>
                  <a:srgbClr val="000000"/>
                </a:solidFill>
                <a:latin typeface="Times New Roman" panose="02020603050405020304" pitchFamily="18" charset="0"/>
                <a:ea typeface="Arial Bold"/>
                <a:cs typeface="Times New Roman" panose="02020603050405020304" pitchFamily="18" charset="0"/>
                <a:sym typeface="Arial Bold"/>
              </a:rPr>
              <a:t>CHAPTER-I: The Origin</a:t>
            </a:r>
          </a:p>
          <a:p>
            <a:pPr algn="l">
              <a:lnSpc>
                <a:spcPts val="4560"/>
              </a:lnSpc>
            </a:pPr>
            <a:endParaRPr lang="en-US" sz="5400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  <a:p>
            <a:pPr algn="l">
              <a:lnSpc>
                <a:spcPts val="4560"/>
              </a:lnSpc>
            </a:pPr>
            <a:endParaRPr lang="en-US" sz="5400" b="1" dirty="0">
              <a:solidFill>
                <a:srgbClr val="000000"/>
              </a:solidFill>
              <a:latin typeface="Times New Roman" panose="02020603050405020304" pitchFamily="18" charset="0"/>
              <a:ea typeface="Arial Bold"/>
              <a:cs typeface="Times New Roman" panose="02020603050405020304" pitchFamily="18" charset="0"/>
              <a:sym typeface="Arial Bold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8" name="Group 8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2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82293" y="190500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7840107" y="9711459"/>
            <a:ext cx="2607786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 Bold"/>
                <a:cs typeface="Times New Roman" panose="02020603050405020304" pitchFamily="18" charset="0"/>
                <a:sym typeface="Montserrat Bold"/>
              </a:rPr>
              <a:t>@sig_realityspectra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B24F7E1-E20C-DEF8-0241-B01B7BEB721A}"/>
              </a:ext>
            </a:extLst>
          </p:cNvPr>
          <p:cNvSpPr/>
          <p:nvPr/>
        </p:nvSpPr>
        <p:spPr>
          <a:xfrm>
            <a:off x="10024324" y="1406797"/>
            <a:ext cx="3139441" cy="345399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/>
              <a:t>Students across every level of STEM education fail not because they lack access to information, but because their mental model of how concepts connect is fundamentally wrong. </a:t>
            </a:r>
            <a:endParaRPr lang="en-IN" sz="2200" b="1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C460BCC-451F-C52F-673B-90A130A5FBE6}"/>
              </a:ext>
            </a:extLst>
          </p:cNvPr>
          <p:cNvSpPr/>
          <p:nvPr/>
        </p:nvSpPr>
        <p:spPr>
          <a:xfrm>
            <a:off x="14583040" y="3659474"/>
            <a:ext cx="3216787" cy="3453996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No existing platform — not </a:t>
            </a:r>
            <a:r>
              <a:rPr lang="en-IN" sz="2400" b="1" dirty="0">
                <a:solidFill>
                  <a:schemeClr val="tx2">
                    <a:lumMod val="75000"/>
                  </a:schemeClr>
                </a:solidFill>
              </a:rPr>
              <a:t>ChatGPT</a:t>
            </a:r>
            <a:r>
              <a:rPr lang="en-IN" sz="2400" b="1" dirty="0"/>
              <a:t>, not </a:t>
            </a:r>
            <a:r>
              <a:rPr lang="en-IN" sz="2400" b="1" dirty="0">
                <a:solidFill>
                  <a:schemeClr val="tx2">
                    <a:lumMod val="50000"/>
                  </a:schemeClr>
                </a:solidFill>
              </a:rPr>
              <a:t>Khan Academy</a:t>
            </a:r>
            <a:r>
              <a:rPr lang="en-IN" sz="2400" b="1" dirty="0"/>
              <a:t>, not </a:t>
            </a:r>
            <a:r>
              <a:rPr lang="en-IN" sz="2400" b="1" dirty="0">
                <a:solidFill>
                  <a:schemeClr val="bg2">
                    <a:lumMod val="10000"/>
                  </a:schemeClr>
                </a:solidFill>
              </a:rPr>
              <a:t>Wolfram Alpha</a:t>
            </a:r>
            <a:r>
              <a:rPr lang="en-IN" sz="2400" b="1" dirty="0"/>
              <a:t> — shows a student where their understanding diverged from the truth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055FEB9-79EC-5151-754F-DFC95EFC70BE}"/>
              </a:ext>
            </a:extLst>
          </p:cNvPr>
          <p:cNvSpPr/>
          <p:nvPr/>
        </p:nvSpPr>
        <p:spPr>
          <a:xfrm>
            <a:off x="9859708" y="5285771"/>
            <a:ext cx="3536826" cy="3880319"/>
          </a:xfrm>
          <a:prstGeom prst="round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900" b="1" dirty="0"/>
              <a:t>They all give the correct answer. None of them show the shape of the wrong belief.</a:t>
            </a:r>
          </a:p>
          <a:p>
            <a:pPr algn="ctr"/>
            <a:r>
              <a:rPr lang="en-IN" sz="1900" b="1" dirty="0"/>
              <a:t>Teachers face the same </a:t>
            </a:r>
            <a:r>
              <a:rPr lang="en-IN" sz="1900" b="1" dirty="0" err="1"/>
              <a:t>blindspot</a:t>
            </a:r>
            <a:r>
              <a:rPr lang="en-IN" sz="1900" b="1" dirty="0"/>
              <a:t> from the other side. By the time a teacher discovers which misconception broke an entire class, the exam has already happened. Intervention arrives too late.</a:t>
            </a:r>
          </a:p>
          <a:p>
            <a:pPr algn="ctr"/>
            <a:endParaRPr lang="en-IN" sz="1600" b="1" dirty="0"/>
          </a:p>
          <a:p>
            <a:pPr algn="ctr"/>
            <a:endParaRPr lang="en-IN" sz="1600" b="1" dirty="0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F64AB004-5913-446A-8769-9BA1DE860EC8}"/>
              </a:ext>
            </a:extLst>
          </p:cNvPr>
          <p:cNvSpPr/>
          <p:nvPr/>
        </p:nvSpPr>
        <p:spPr>
          <a:xfrm>
            <a:off x="9525000" y="2357659"/>
            <a:ext cx="6955994" cy="3748530"/>
          </a:xfrm>
          <a:prstGeom prst="arc">
            <a:avLst>
              <a:gd name="adj1" fmla="val 16452307"/>
              <a:gd name="adj2" fmla="val 21034932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85F16328-7C8B-C7A9-E988-21F38801351F}"/>
              </a:ext>
            </a:extLst>
          </p:cNvPr>
          <p:cNvSpPr/>
          <p:nvPr/>
        </p:nvSpPr>
        <p:spPr>
          <a:xfrm flipH="1" flipV="1">
            <a:off x="11887200" y="4779216"/>
            <a:ext cx="4380433" cy="3649406"/>
          </a:xfrm>
          <a:prstGeom prst="arc">
            <a:avLst>
              <a:gd name="adj1" fmla="val 11635088"/>
              <a:gd name="adj2" fmla="val 19367461"/>
            </a:avLst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DAE706FB-6A54-B376-170E-AC8FF0E3D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873837"/>
            <a:ext cx="9768722" cy="73377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259247" y="695325"/>
            <a:ext cx="9769507" cy="78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CHAPTER-II: The Solution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3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78A7145-149F-1EBB-B097-12AF2360D58A}"/>
              </a:ext>
            </a:extLst>
          </p:cNvPr>
          <p:cNvSpPr/>
          <p:nvPr/>
        </p:nvSpPr>
        <p:spPr>
          <a:xfrm>
            <a:off x="11049000" y="2019300"/>
            <a:ext cx="6453871" cy="2438884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VEKTOR Intelligence is a STEM intelligence platform that maps what a student currently believes as a Student Knowledge Graph (SKG)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6736ADD-6151-0AB3-32C5-FBA35E1933ED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flipH="1">
            <a:off x="14275935" y="4458184"/>
            <a:ext cx="1" cy="55388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6EFB3A5-618D-CA0D-3511-21ADEC688D22}"/>
              </a:ext>
            </a:extLst>
          </p:cNvPr>
          <p:cNvSpPr/>
          <p:nvPr/>
        </p:nvSpPr>
        <p:spPr>
          <a:xfrm>
            <a:off x="11163299" y="5012066"/>
            <a:ext cx="6225271" cy="1905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Compares it against the expert-validated Domain Knowledge Graph (DKG), and renders both side-by-side in real-time WebGL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63B0D2-4B60-AEF2-68A0-C7224C5CE46B}"/>
              </a:ext>
            </a:extLst>
          </p:cNvPr>
          <p:cNvCxnSpPr>
            <a:cxnSpLocks/>
            <a:stCxn id="23" idx="2"/>
            <a:endCxn id="28" idx="0"/>
          </p:cNvCxnSpPr>
          <p:nvPr/>
        </p:nvCxnSpPr>
        <p:spPr>
          <a:xfrm flipH="1">
            <a:off x="14275934" y="6917066"/>
            <a:ext cx="1" cy="41464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B6ABAA7-5FF7-9E89-757E-DD760F4B762A}"/>
              </a:ext>
            </a:extLst>
          </p:cNvPr>
          <p:cNvSpPr/>
          <p:nvPr/>
        </p:nvSpPr>
        <p:spPr>
          <a:xfrm>
            <a:off x="11106148" y="7331706"/>
            <a:ext cx="6339571" cy="1558752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800" b="1" dirty="0"/>
          </a:p>
          <a:p>
            <a:pPr algn="ctr"/>
            <a:r>
              <a:rPr lang="en-IN" sz="2800" b="1" dirty="0"/>
              <a:t>The gap between the two graphs is the lesson. The direction from one to the other is the teaching.</a:t>
            </a:r>
          </a:p>
          <a:p>
            <a:pPr algn="ctr"/>
            <a:endParaRPr lang="en-IN" sz="2800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53FB4C-C25A-75C8-48C7-4D9558F6DB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03277"/>
            <a:ext cx="11048996" cy="75726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5">
            <a:extLst>
              <a:ext uri="{FF2B5EF4-FFF2-40B4-BE49-F238E27FC236}">
                <a16:creationId xmlns:a16="http://schemas.microsoft.com/office/drawing/2014/main" id="{62BBB3FB-8B5C-588A-860A-84B3CFEF7518}"/>
              </a:ext>
            </a:extLst>
          </p:cNvPr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3" name="Freeform 16">
              <a:extLst>
                <a:ext uri="{FF2B5EF4-FFF2-40B4-BE49-F238E27FC236}">
                  <a16:creationId xmlns:a16="http://schemas.microsoft.com/office/drawing/2014/main" id="{8A5FDC8D-425A-C6AA-85CD-53ED0CD34EBC}"/>
                </a:ext>
              </a:extLst>
            </p:cNvPr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17">
              <a:extLst>
                <a:ext uri="{FF2B5EF4-FFF2-40B4-BE49-F238E27FC236}">
                  <a16:creationId xmlns:a16="http://schemas.microsoft.com/office/drawing/2014/main" id="{683C5C99-3DAE-EE9A-8993-B62E86B35B3A}"/>
                </a:ext>
              </a:extLst>
            </p:cNvPr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  <p:sp>
        <p:nvSpPr>
          <p:cNvPr id="8" name="TextBox 2">
            <a:extLst>
              <a:ext uri="{FF2B5EF4-FFF2-40B4-BE49-F238E27FC236}">
                <a16:creationId xmlns:a16="http://schemas.microsoft.com/office/drawing/2014/main" id="{2D20B8E5-3EB6-9F2C-F1C3-9E16F41C189B}"/>
              </a:ext>
            </a:extLst>
          </p:cNvPr>
          <p:cNvSpPr txBox="1"/>
          <p:nvPr/>
        </p:nvSpPr>
        <p:spPr>
          <a:xfrm>
            <a:off x="4114800" y="430608"/>
            <a:ext cx="10402100" cy="16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CHAPTER-III: </a:t>
            </a:r>
          </a:p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TECHNICAL APPROACH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26D9670-17FC-4621-2438-C943D27B8A9C}"/>
              </a:ext>
            </a:extLst>
          </p:cNvPr>
          <p:cNvGrpSpPr/>
          <p:nvPr/>
        </p:nvGrpSpPr>
        <p:grpSpPr>
          <a:xfrm>
            <a:off x="15697200" y="22387"/>
            <a:ext cx="2172767" cy="2172767"/>
            <a:chOff x="0" y="0"/>
            <a:chExt cx="2897022" cy="2897022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FCBECAE-6F54-12F6-99F8-87D7079731DC}"/>
                </a:ext>
              </a:extLst>
            </p:cNvPr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3" name="Group 6">
            <a:extLst>
              <a:ext uri="{FF2B5EF4-FFF2-40B4-BE49-F238E27FC236}">
                <a16:creationId xmlns:a16="http://schemas.microsoft.com/office/drawing/2014/main" id="{EA0B6EB4-6002-1A32-455F-E0FE64DC45D6}"/>
              </a:ext>
            </a:extLst>
          </p:cNvPr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14" name="Group 7">
              <a:extLst>
                <a:ext uri="{FF2B5EF4-FFF2-40B4-BE49-F238E27FC236}">
                  <a16:creationId xmlns:a16="http://schemas.microsoft.com/office/drawing/2014/main" id="{9FA20ADA-056A-961A-9B34-2E1A0B01A5EC}"/>
                </a:ext>
              </a:extLst>
            </p:cNvPr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18" name="Freeform 8">
                <a:extLst>
                  <a:ext uri="{FF2B5EF4-FFF2-40B4-BE49-F238E27FC236}">
                    <a16:creationId xmlns:a16="http://schemas.microsoft.com/office/drawing/2014/main" id="{2EC4CC8D-C744-5F77-491C-29E919B7FF10}"/>
                  </a:ext>
                </a:extLst>
              </p:cNvPr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15" name="Group 9">
              <a:extLst>
                <a:ext uri="{FF2B5EF4-FFF2-40B4-BE49-F238E27FC236}">
                  <a16:creationId xmlns:a16="http://schemas.microsoft.com/office/drawing/2014/main" id="{DA7FA78B-4A0C-69C6-172A-07D7D9C29EF2}"/>
                </a:ext>
              </a:extLst>
            </p:cNvPr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6" name="Freeform 10">
                <a:extLst>
                  <a:ext uri="{FF2B5EF4-FFF2-40B4-BE49-F238E27FC236}">
                    <a16:creationId xmlns:a16="http://schemas.microsoft.com/office/drawing/2014/main" id="{FB98F3E8-753E-2036-A352-77B479638A88}"/>
                  </a:ext>
                </a:extLst>
              </p:cNvPr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5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7" name="TextBox 11">
                <a:extLst>
                  <a:ext uri="{FF2B5EF4-FFF2-40B4-BE49-F238E27FC236}">
                    <a16:creationId xmlns:a16="http://schemas.microsoft.com/office/drawing/2014/main" id="{DC618CC5-8EBF-2817-6E50-CD5AC4885402}"/>
                  </a:ext>
                </a:extLst>
              </p:cNvPr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9" name="Group 12">
            <a:extLst>
              <a:ext uri="{FF2B5EF4-FFF2-40B4-BE49-F238E27FC236}">
                <a16:creationId xmlns:a16="http://schemas.microsoft.com/office/drawing/2014/main" id="{52A3A665-CA12-6BD0-C453-196A903FE6DA}"/>
              </a:ext>
            </a:extLst>
          </p:cNvPr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F56250A2-F742-6721-AA70-4611BCFA5FB5}"/>
                </a:ext>
              </a:extLst>
            </p:cNvPr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4525" b="-10452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21" name="TextBox 14">
              <a:extLst>
                <a:ext uri="{FF2B5EF4-FFF2-40B4-BE49-F238E27FC236}">
                  <a16:creationId xmlns:a16="http://schemas.microsoft.com/office/drawing/2014/main" id="{945FAA2F-2179-B055-2916-9FEDD537E80B}"/>
                </a:ext>
              </a:extLst>
            </p:cNvPr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4</a:t>
              </a:r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C5C3F7F-C27C-5EFA-9319-451009E02B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051565"/>
            <a:ext cx="14630400" cy="7324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977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49" y="507308"/>
            <a:ext cx="10402100" cy="16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CHAPTER-IV: </a:t>
            </a:r>
            <a:b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FEASIBILITY AND VIABILITY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335000" y="7891391"/>
            <a:ext cx="4059436" cy="2211043"/>
            <a:chOff x="-1159543" y="4461"/>
            <a:chExt cx="3860800" cy="2102852"/>
          </a:xfrm>
        </p:grpSpPr>
        <p:sp>
          <p:nvSpPr>
            <p:cNvPr id="13" name="Freeform 13"/>
            <p:cNvSpPr/>
            <p:nvPr/>
          </p:nvSpPr>
          <p:spPr>
            <a:xfrm>
              <a:off x="-609851" y="4461"/>
              <a:ext cx="1696922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159543" y="1591909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0DC7BA-21E6-AAE8-B9F0-5A17AF4BF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958518"/>
              </p:ext>
            </p:extLst>
          </p:nvPr>
        </p:nvGraphicFramePr>
        <p:xfrm>
          <a:off x="10607039" y="2494556"/>
          <a:ext cx="7680941" cy="3454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31001">
                  <a:extLst>
                    <a:ext uri="{9D8B030D-6E8A-4147-A177-3AD203B41FA5}">
                      <a16:colId xmlns:a16="http://schemas.microsoft.com/office/drawing/2014/main" val="2454133797"/>
                    </a:ext>
                  </a:extLst>
                </a:gridCol>
                <a:gridCol w="4949940">
                  <a:extLst>
                    <a:ext uri="{9D8B030D-6E8A-4147-A177-3AD203B41FA5}">
                      <a16:colId xmlns:a16="http://schemas.microsoft.com/office/drawing/2014/main" val="2934672692"/>
                    </a:ext>
                  </a:extLst>
                </a:gridCol>
              </a:tblGrid>
              <a:tr h="347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Phase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>
                          <a:effectLst/>
                        </a:rPr>
                        <a:t>Deliverables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616272947"/>
                  </a:ext>
                </a:extLst>
              </a:tr>
              <a:tr h="77251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Phase 1 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Auth + Onboarding · Student Dashboard (Session, Practice, Progress) · Session Page + AI Engine · </a:t>
                      </a:r>
                      <a:r>
                        <a:rPr lang="en-IN" sz="1600" dirty="0" err="1">
                          <a:effectLst/>
                        </a:rPr>
                        <a:t>FastAPI</a:t>
                      </a:r>
                      <a:r>
                        <a:rPr lang="en-IN" sz="1600" dirty="0">
                          <a:effectLst/>
                        </a:rPr>
                        <a:t> on Railway · 2 DKGs (Mathematics — Linear Algebra + Calculus)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1307008838"/>
                  </a:ext>
                </a:extLst>
              </a:tr>
              <a:tr h="772518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Phase 2 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Teacher Portal + real-time heatmap · Practice + Progress pages · All 5 subject DKGs · Stripe / </a:t>
                      </a:r>
                      <a:r>
                        <a:rPr lang="en-IN" sz="1600" dirty="0" err="1">
                          <a:effectLst/>
                        </a:rPr>
                        <a:t>Razorpay</a:t>
                      </a:r>
                      <a:r>
                        <a:rPr lang="en-IN" sz="1600" dirty="0">
                          <a:effectLst/>
                        </a:rPr>
                        <a:t> Pro plan integration · Adaptive learning engine tuning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720474145"/>
                  </a:ext>
                </a:extLst>
              </a:tr>
              <a:tr h="985044"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2000" dirty="0">
                          <a:effectLst/>
                        </a:rPr>
                        <a:t>Phase 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tc>
                  <a:txBody>
                    <a:bodyPr/>
                    <a:lstStyle/>
                    <a:p>
                      <a:pPr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-IN" sz="1600" dirty="0">
                          <a:effectLst/>
                        </a:rPr>
                        <a:t>Researcher Portal (DKG explorer, cohort comparison, export) · Admin Panel (feature flags, audit logs) · Landing page with Tesseract4D WebGL hero · Production deploy to </a:t>
                      </a:r>
                      <a:r>
                        <a:rPr lang="en-IN" sz="1600" dirty="0" err="1">
                          <a:effectLst/>
                        </a:rPr>
                        <a:t>Vercel</a:t>
                      </a:r>
                      <a:r>
                        <a:rPr lang="en-IN" sz="1600" dirty="0">
                          <a:effectLst/>
                        </a:rPr>
                        <a:t> + Railway · WCAG 2.1 AA accessibility audit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76200" marR="76200" marT="50800" marB="50800"/>
                </a:tc>
                <a:extLst>
                  <a:ext uri="{0D108BD9-81ED-4DB2-BD59-A6C34878D82A}">
                    <a16:rowId xmlns:a16="http://schemas.microsoft.com/office/drawing/2014/main" val="2432811298"/>
                  </a:ext>
                </a:extLst>
              </a:tr>
            </a:tbl>
          </a:graphicData>
        </a:graphic>
      </p:graphicFrame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BE787B-82C0-1CE0-9922-EE4A4BC646A2}"/>
              </a:ext>
            </a:extLst>
          </p:cNvPr>
          <p:cNvSpPr/>
          <p:nvPr/>
        </p:nvSpPr>
        <p:spPr>
          <a:xfrm>
            <a:off x="10607038" y="6018785"/>
            <a:ext cx="7680941" cy="157272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Frontend : Total </a:t>
            </a:r>
            <a:r>
              <a:rPr lang="en-IN" dirty="0"/>
              <a:t>10 pages built — Auth, Onboarding, Student Dashboard (Session/Practice/Progress), Teacher Portal (all sub-pages), Researcher Portal (all sub-pages), Settings. All run on mock data pending backend wiring.</a:t>
            </a:r>
          </a:p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AAF7ACA-369F-4474-213B-78930FE94BDD}"/>
              </a:ext>
            </a:extLst>
          </p:cNvPr>
          <p:cNvSpPr/>
          <p:nvPr/>
        </p:nvSpPr>
        <p:spPr>
          <a:xfrm>
            <a:off x="10607037" y="7734300"/>
            <a:ext cx="7680941" cy="145708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Backend : </a:t>
            </a:r>
            <a:r>
              <a:rPr lang="en-IN" dirty="0"/>
              <a:t>Full </a:t>
            </a:r>
            <a:r>
              <a:rPr lang="en-IN" dirty="0" err="1"/>
              <a:t>FastAPI</a:t>
            </a:r>
            <a:r>
              <a:rPr lang="en-IN" dirty="0"/>
              <a:t> application with 5-layer pipeline, 4 endpoints, 2 DKGs seeded, 62 passing tests across extractor / comparator / classifier / RAG context builder.</a:t>
            </a:r>
          </a:p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801FE6F-60D9-C6EF-36ED-F22F7A1218A8}"/>
              </a:ext>
            </a:extLst>
          </p:cNvPr>
          <p:cNvSpPr/>
          <p:nvPr/>
        </p:nvSpPr>
        <p:spPr>
          <a:xfrm>
            <a:off x="304800" y="7891391"/>
            <a:ext cx="9982200" cy="1299991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Next step: </a:t>
            </a:r>
            <a:r>
              <a:rPr lang="en-IN" sz="2400" dirty="0"/>
              <a:t>Deploy </a:t>
            </a:r>
            <a:r>
              <a:rPr lang="en-IN" sz="2400" dirty="0" err="1"/>
              <a:t>FastAPI</a:t>
            </a:r>
            <a:r>
              <a:rPr lang="en-IN" sz="2400" dirty="0"/>
              <a:t> to Railway, wire session page to real /</a:t>
            </a:r>
            <a:r>
              <a:rPr lang="en-IN" sz="2400" dirty="0" err="1"/>
              <a:t>api</a:t>
            </a:r>
            <a:r>
              <a:rPr lang="en-IN" sz="2400" dirty="0"/>
              <a:t>/session/</a:t>
            </a:r>
            <a:r>
              <a:rPr lang="en-IN" sz="2400" dirty="0" err="1"/>
              <a:t>analyze</a:t>
            </a:r>
            <a:r>
              <a:rPr lang="en-IN" sz="2400" dirty="0"/>
              <a:t>, replace mock data with live </a:t>
            </a:r>
            <a:r>
              <a:rPr lang="en-IN" sz="2400" dirty="0" err="1"/>
              <a:t>Firestore</a:t>
            </a:r>
            <a:r>
              <a:rPr lang="en-IN" sz="2400" dirty="0"/>
              <a:t> queries.</a:t>
            </a:r>
          </a:p>
          <a:p>
            <a:pPr algn="ctr"/>
            <a:endParaRPr lang="en-IN" sz="24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648F4F2-8E6C-4F63-0174-D0AA587B2E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2247425"/>
            <a:ext cx="10287000" cy="5599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49" y="129070"/>
            <a:ext cx="10402100" cy="1620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8"/>
              </a:lnSpc>
            </a:pP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CHAPTER-V:</a:t>
            </a:r>
            <a:b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5398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IMPACTS &amp; BENEFITS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07625"/>
            <a:ext cx="2393817" cy="541925"/>
            <a:chOff x="0" y="-28575"/>
            <a:chExt cx="2276683" cy="51540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2322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4525" b="-104524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276683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dirty="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3EA66A39-3A24-4A16-303B-73425DBED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188103"/>
            <a:ext cx="15468600" cy="70657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F48B33-AD7D-75A4-A380-996DED2EF09E}"/>
              </a:ext>
            </a:extLst>
          </p:cNvPr>
          <p:cNvSpPr txBox="1"/>
          <p:nvPr/>
        </p:nvSpPr>
        <p:spPr>
          <a:xfrm>
            <a:off x="831307" y="1904746"/>
            <a:ext cx="1638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ritannic Bold" panose="020B0903060703020204" pitchFamily="34" charset="0"/>
              </a:rPr>
              <a:t>VEKTOR directly targets SDG 4.4 by reducing the 'Time-to-Correction' for STEM misconceptions from weeks to minutes</a:t>
            </a:r>
            <a:endParaRPr lang="en-IN" sz="2400" dirty="0">
              <a:latin typeface="Britannic Bold" panose="020B0903060703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42949" y="322524"/>
            <a:ext cx="10402100" cy="1621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CHAPTER-VI:</a:t>
            </a:r>
            <a:b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</a:br>
            <a:r>
              <a:rPr lang="en-US" sz="5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RESEARCH  AND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95400" y="2175222"/>
            <a:ext cx="16052676" cy="81863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8471" lvl="1" indent="-229236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Frontiers in Computer Science (2026):</a:t>
            </a:r>
            <a: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2500" i="1" dirty="0">
                <a:hlinkClick r:id="rId2"/>
              </a:rPr>
              <a:t>Research on an intelligent tutoring system based on automatic construction of multimodal knowledge graphs and retrieval-augmented generation</a:t>
            </a:r>
            <a:r>
              <a:rPr lang="en-US" sz="2500" dirty="0"/>
              <a:t>.</a:t>
            </a:r>
            <a:br>
              <a:rPr 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</a:br>
            <a:r>
              <a:rPr lang="en-US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PeerJ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(2025):</a:t>
            </a:r>
            <a:r>
              <a:rPr lang="en-US" sz="2500" dirty="0"/>
              <a:t> </a:t>
            </a:r>
            <a:r>
              <a:rPr lang="en-US" sz="2500" i="1" dirty="0" err="1">
                <a:hlinkClick r:id="rId3"/>
              </a:rPr>
              <a:t>LPITutor</a:t>
            </a:r>
            <a:r>
              <a:rPr lang="en-US" sz="2500" i="1" dirty="0">
                <a:hlinkClick r:id="rId3"/>
              </a:rPr>
              <a:t>: an LLM based personalized intelligent tutoring system using RAG and prompt engineering</a:t>
            </a:r>
            <a:r>
              <a:rPr lang="en-US" sz="2500" dirty="0"/>
              <a:t>.</a:t>
            </a:r>
          </a:p>
          <a:p>
            <a:pPr marL="458471" lvl="1" indent="-229236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 Electronics (2025):</a:t>
            </a:r>
            <a:r>
              <a:rPr lang="en-US" sz="2500" dirty="0"/>
              <a:t> </a:t>
            </a:r>
            <a:r>
              <a:rPr lang="en-US" sz="2500" i="1" dirty="0">
                <a:hlinkClick r:id="rId4"/>
              </a:rPr>
              <a:t>KG-PLPPM: A Knowledge Graph-Based Personal Learning Path Planning Method</a:t>
            </a:r>
            <a:r>
              <a:rPr lang="en-US" sz="2500" dirty="0"/>
              <a:t>.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 (2025):</a:t>
            </a:r>
            <a:r>
              <a:rPr lang="en-US" sz="2500" dirty="0"/>
              <a:t> </a:t>
            </a:r>
            <a:r>
              <a:rPr lang="en-US" sz="2500" i="1" dirty="0">
                <a:hlinkClick r:id="rId5"/>
              </a:rPr>
              <a:t>Personalized Learning Path Recommendation Driven by Multi-Modal Knowledge Graphs and Large Models Collaboration</a:t>
            </a:r>
            <a:r>
              <a:rPr lang="en-US" sz="2500" dirty="0"/>
              <a:t>.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Academies Press:</a:t>
            </a:r>
            <a:r>
              <a:rPr lang="en-US" sz="2500" dirty="0"/>
              <a:t> </a:t>
            </a:r>
            <a:r>
              <a:rPr lang="en-US" sz="2500" i="1" dirty="0">
                <a:hlinkClick r:id="rId6"/>
              </a:rPr>
              <a:t>Using Insights About Learning to Inform Teaching</a:t>
            </a:r>
            <a:r>
              <a:rPr lang="en-US" sz="2500" dirty="0"/>
              <a:t>.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ResearchGate:</a:t>
            </a:r>
            <a:r>
              <a:rPr lang="en-US" sz="2500" dirty="0"/>
              <a:t> </a:t>
            </a:r>
            <a:r>
              <a:rPr lang="en-US" sz="2500" i="1" dirty="0">
                <a:hlinkClick r:id="rId7"/>
              </a:rPr>
              <a:t>Usage of Graph Patterns for Knowledge Assessment Based on Concept Maps</a:t>
            </a:r>
            <a:r>
              <a:rPr lang="en-US" sz="2500" dirty="0"/>
              <a:t>.</a:t>
            </a:r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Taylor &amp; Francis:</a:t>
            </a:r>
            <a:r>
              <a:rPr lang="en-US" sz="2500" dirty="0"/>
              <a:t> </a:t>
            </a:r>
            <a:r>
              <a:rPr lang="en-US" sz="2500" i="1" dirty="0">
                <a:hlinkClick r:id="rId8"/>
              </a:rPr>
              <a:t>Graph-theoretic approaches and tools for quantitatively assessing curricula coherence</a:t>
            </a:r>
            <a:endParaRPr lang="en-US" sz="2500" i="1" dirty="0"/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details refer the URL:</a:t>
            </a:r>
            <a:endParaRPr lang="en-US" sz="2500" dirty="0"/>
          </a:p>
          <a:p>
            <a:pPr marL="229235" lvl="1" algn="just">
              <a:lnSpc>
                <a:spcPts val="4560"/>
              </a:lnSpc>
            </a:pPr>
            <a:r>
              <a:rPr lang="en-US" sz="2500" dirty="0"/>
              <a:t>  </a:t>
            </a:r>
            <a:r>
              <a:rPr lang="en-US" sz="2500" dirty="0">
                <a:hlinkClick r:id="rId9"/>
              </a:rPr>
              <a:t>https://drive.google.com/drive/folders/1dWzc4CYbvKGo6_7VdiOQMD6rClIQOPFK?usp=sharing</a:t>
            </a:r>
            <a:endParaRPr lang="en-US" sz="2500" dirty="0"/>
          </a:p>
          <a:p>
            <a:pPr marL="229235" lvl="1" algn="just">
              <a:lnSpc>
                <a:spcPts val="4560"/>
              </a:lnSpc>
            </a:pPr>
            <a:endParaRPr lang="en-US" sz="2500" dirty="0"/>
          </a:p>
          <a:p>
            <a:pPr marL="458471" lvl="1" indent="-229236" algn="just">
              <a:lnSpc>
                <a:spcPts val="4560"/>
              </a:lnSpc>
              <a:buFont typeface="Arial"/>
              <a:buChar char="•"/>
            </a:pPr>
            <a:endParaRPr lang="en-US" sz="2500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115233" y="12316"/>
            <a:ext cx="2172767" cy="2172767"/>
            <a:chOff x="0" y="0"/>
            <a:chExt cx="2897022" cy="289702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96997" cy="2896997"/>
            </a:xfrm>
            <a:custGeom>
              <a:avLst/>
              <a:gdLst/>
              <a:ahLst/>
              <a:cxnLst/>
              <a:rect l="l" t="t" r="r" b="b"/>
              <a:pathLst>
                <a:path w="2896997" h="2896997">
                  <a:moveTo>
                    <a:pt x="0" y="0"/>
                  </a:moveTo>
                  <a:lnTo>
                    <a:pt x="2896997" y="0"/>
                  </a:lnTo>
                  <a:lnTo>
                    <a:pt x="2896997" y="2896997"/>
                  </a:lnTo>
                  <a:lnTo>
                    <a:pt x="0" y="28969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9375948"/>
            <a:ext cx="18288000" cy="911052"/>
            <a:chOff x="0" y="0"/>
            <a:chExt cx="24384000" cy="1214736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24384000" cy="1214736"/>
              <a:chOff x="0" y="0"/>
              <a:chExt cx="24384000" cy="121473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4384000" cy="1214736"/>
              </a:xfrm>
              <a:custGeom>
                <a:avLst/>
                <a:gdLst/>
                <a:ahLst/>
                <a:cxnLst/>
                <a:rect l="l" t="t" r="r" b="b"/>
                <a:pathLst>
                  <a:path w="24384000" h="1214736">
                    <a:moveTo>
                      <a:pt x="0" y="0"/>
                    </a:moveTo>
                    <a:lnTo>
                      <a:pt x="24384000" y="0"/>
                    </a:lnTo>
                    <a:lnTo>
                      <a:pt x="24384000" y="1214736"/>
                    </a:lnTo>
                    <a:lnTo>
                      <a:pt x="0" y="1214736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9025947" y="297132"/>
              <a:ext cx="6332106" cy="745506"/>
              <a:chOff x="0" y="0"/>
              <a:chExt cx="6332106" cy="74550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6332103" cy="745510"/>
              </a:xfrm>
              <a:custGeom>
                <a:avLst/>
                <a:gdLst/>
                <a:ahLst/>
                <a:cxnLst/>
                <a:rect l="l" t="t" r="r" b="b"/>
                <a:pathLst>
                  <a:path w="6332103" h="745510">
                    <a:moveTo>
                      <a:pt x="0" y="0"/>
                    </a:moveTo>
                    <a:lnTo>
                      <a:pt x="6332103" y="0"/>
                    </a:lnTo>
                    <a:lnTo>
                      <a:pt x="6332103" y="745510"/>
                    </a:lnTo>
                    <a:lnTo>
                      <a:pt x="0" y="745510"/>
                    </a:lnTo>
                    <a:close/>
                  </a:path>
                </a:pathLst>
              </a:custGeom>
              <a:blipFill>
                <a:blip r:embed="rId11">
                  <a:alphaModFix amt="0"/>
                </a:blip>
                <a:stretch>
                  <a:fillRect t="-115499" b="-115498"/>
                </a:stretch>
              </a:blip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28575"/>
                <a:ext cx="6332106" cy="716931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160"/>
                  </a:lnSpc>
                </a:pPr>
                <a:r>
                  <a:rPr lang="en-US" sz="2000" b="1">
                    <a:solidFill>
                      <a:srgbClr val="FFFFFF"/>
                    </a:solidFill>
                    <a:latin typeface="Times New Roman" panose="02020603050405020304" pitchFamily="18" charset="0"/>
                    <a:ea typeface="Montserrat Bold"/>
                    <a:cs typeface="Times New Roman" panose="02020603050405020304" pitchFamily="18" charset="0"/>
                    <a:sym typeface="Montserrat Bold"/>
                  </a:rPr>
                  <a:t>@sig_realityspectra</a:t>
                </a:r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13912973" y="9637670"/>
            <a:ext cx="4059436" cy="511876"/>
            <a:chOff x="0" y="0"/>
            <a:chExt cx="3860800" cy="48682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860800" cy="486833"/>
            </a:xfrm>
            <a:custGeom>
              <a:avLst/>
              <a:gdLst/>
              <a:ahLst/>
              <a:cxnLst/>
              <a:rect l="l" t="t" r="r" b="b"/>
              <a:pathLst>
                <a:path w="3860800" h="486833">
                  <a:moveTo>
                    <a:pt x="0" y="0"/>
                  </a:moveTo>
                  <a:lnTo>
                    <a:pt x="3860800" y="0"/>
                  </a:lnTo>
                  <a:lnTo>
                    <a:pt x="3860800" y="486833"/>
                  </a:lnTo>
                  <a:lnTo>
                    <a:pt x="0" y="486833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104525" b="-104524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860800" cy="5154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>
                  <a:solidFill>
                    <a:srgbClr val="FFFFFF"/>
                  </a:solidFill>
                  <a:latin typeface="Times New Roman" panose="02020603050405020304" pitchFamily="18" charset="0"/>
                  <a:ea typeface="Calibri (MS)"/>
                  <a:cs typeface="Times New Roman" panose="02020603050405020304" pitchFamily="18" charset="0"/>
                  <a:sym typeface="Calibri (MS)"/>
                </a:rPr>
                <a:t>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7154" y="414793"/>
            <a:ext cx="2702667" cy="1367813"/>
            <a:chOff x="0" y="0"/>
            <a:chExt cx="3603556" cy="18237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03556" cy="1823751"/>
            </a:xfrm>
            <a:custGeom>
              <a:avLst/>
              <a:gdLst/>
              <a:ahLst/>
              <a:cxnLst/>
              <a:rect l="l" t="t" r="r" b="b"/>
              <a:pathLst>
                <a:path w="3603556" h="1823751">
                  <a:moveTo>
                    <a:pt x="0" y="0"/>
                  </a:moveTo>
                  <a:lnTo>
                    <a:pt x="3603556" y="0"/>
                  </a:lnTo>
                  <a:lnTo>
                    <a:pt x="3603556" y="1823751"/>
                  </a:lnTo>
                  <a:lnTo>
                    <a:pt x="0" y="18237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260242" y="619759"/>
              <a:ext cx="3083072" cy="5842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466"/>
                </a:lnSpc>
              </a:pPr>
              <a:r>
                <a:rPr lang="en-US" sz="2888" b="1" dirty="0">
                  <a:solidFill>
                    <a:srgbClr val="000000"/>
                  </a:solidFill>
                  <a:latin typeface="Times New Roman" panose="02020603050405020304" pitchFamily="18" charset="0"/>
                  <a:ea typeface="Montserrat Bold"/>
                  <a:cs typeface="Times New Roman" panose="02020603050405020304" pitchFamily="18" charset="0"/>
                  <a:sym typeface="Montserrat Bold"/>
                </a:rPr>
                <a:t>Nexis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687</Words>
  <Application>Microsoft Office PowerPoint</Application>
  <PresentationFormat>Custom</PresentationFormat>
  <Paragraphs>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Brick Sans</vt:lpstr>
      <vt:lpstr>Montserrat Bold</vt:lpstr>
      <vt:lpstr>Calibri (MS)</vt:lpstr>
      <vt:lpstr>Britannic Bold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TESSERACT_PPT_TEMPLATE.pptx</dc:title>
  <dc:creator>Admin</dc:creator>
  <cp:lastModifiedBy>prashantsgharge2911@outlook.com</cp:lastModifiedBy>
  <cp:revision>6</cp:revision>
  <dcterms:created xsi:type="dcterms:W3CDTF">2006-08-16T00:00:00Z</dcterms:created>
  <dcterms:modified xsi:type="dcterms:W3CDTF">2026-03-25T19:50:23Z</dcterms:modified>
  <dc:identifier>DAHEaEQps5I</dc:identifier>
</cp:coreProperties>
</file>